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A"/>
          </a:solidFill>
          <a:ln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C3E8C"/>
                </a:solidFill>
              </a:rPr>
              <a:t>BANKING &amp; FINANCE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503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rPr dirty="0"/>
              <a:t>Power BI End-to-End Data Analytics Project</a:t>
            </a:r>
          </a:p>
          <a:p>
            <a:pPr>
              <a:defRPr sz="1800"/>
            </a:pPr>
            <a:r>
              <a:rPr dirty="0"/>
              <a:t>Data Cleaning • Power Query • Data Modeling • DAX • Dashboard Design • Business Insights</a:t>
            </a:r>
          </a:p>
        </p:txBody>
      </p:sp>
      <p:pic>
        <p:nvPicPr>
          <p:cNvPr id="5" name="Picture 4" descr="Overview DB 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102994"/>
            <a:ext cx="8202168" cy="4629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C3E8C"/>
                </a:solidFill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28432" cy="413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Developed an interactive Banking &amp; Finance Analytics Dashboard using Power BI.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Integrated customer, account, transaction, loan, and fraud datasets.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Performed data cleaning and transformation using Power Query.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Created KPI measures and business metrics using DAX.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Designed 5 analytical dashboard pages for executive decision-making.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Focused on Revenue, Churn, Operational Efficiency, and Fraud Analytics.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517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2. Data Collection &amp;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476488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Imported multiple datasets: Customers, Accounts, Transactions, Loans, and Fraud Alerts.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Handled missing values using segment-wise median imputation.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Removed duplicate rows using Power Query transformations.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Standardized inconsistent categorical values.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Converted mixed date formats and numeric columns.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Handled invalid records, outliers, and placeholder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146581"/>
            <a:ext cx="79918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Key Cleaning Tasks Completed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600"/>
            </a:pPr>
            <a:r>
              <a:rPr dirty="0"/>
              <a:t>5965 invalid dates corrected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600"/>
            </a:pPr>
            <a:r>
              <a:rPr dirty="0"/>
              <a:t>5803 account status standardizations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600"/>
            </a:pPr>
            <a:r>
              <a:rPr dirty="0"/>
              <a:t>250 duplicate transaction rows removed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600"/>
            </a:pPr>
            <a:r>
              <a:rPr dirty="0"/>
              <a:t>Numeric conversion for balance and loan values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600"/>
            </a:pPr>
            <a:r>
              <a:rPr dirty="0"/>
              <a:t>Fraud severity categories standardized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3. Data Modeling &amp; DAX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854696" cy="3442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Built relationships between all banking datasets.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Created a centralized Date Table for time intelligence analysis.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Developed DAX measures for KPIs and business calculations.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Implemented dynamic slicers for Year, Segment, and Branch filters.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Optimized model performance using calculated measures.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498848"/>
            <a:ext cx="326440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Sample KPIs</a:t>
            </a:r>
          </a:p>
          <a:p>
            <a:pPr>
              <a:defRPr sz="1600"/>
            </a:pPr>
            <a:r>
              <a:rPr dirty="0"/>
              <a:t>• Churn Rate %</a:t>
            </a:r>
          </a:p>
          <a:p>
            <a:pPr>
              <a:defRPr sz="1600"/>
            </a:pPr>
            <a:r>
              <a:rPr dirty="0"/>
              <a:t>• Total Fee Revenue</a:t>
            </a:r>
          </a:p>
          <a:p>
            <a:pPr>
              <a:defRPr sz="1600"/>
            </a:pPr>
            <a:r>
              <a:rPr dirty="0"/>
              <a:t>• Gross NPA Ratio</a:t>
            </a:r>
          </a:p>
          <a:p>
            <a:pPr>
              <a:defRPr sz="1600"/>
            </a:pPr>
            <a:r>
              <a:rPr dirty="0"/>
              <a:t>• Recovery Rate</a:t>
            </a:r>
          </a:p>
          <a:p>
            <a:pPr>
              <a:defRPr sz="1600"/>
            </a:pPr>
            <a:r>
              <a:rPr dirty="0"/>
              <a:t>• ARPC</a:t>
            </a:r>
          </a:p>
          <a:p>
            <a:pPr>
              <a:defRPr sz="1600"/>
            </a:pPr>
            <a:r>
              <a:rPr dirty="0"/>
              <a:t>• Fraud Loss Ratio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4. Overview Dashboard</a:t>
            </a:r>
          </a:p>
        </p:txBody>
      </p:sp>
      <p:pic>
        <p:nvPicPr>
          <p:cNvPr id="3" name="Picture 2" descr="Overview DB 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0252"/>
            <a:ext cx="7607808" cy="42943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12583"/>
            <a:ext cx="7388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Provides executive-level summary of banking performance.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Tracks revenue, NPA ratio, churn, fraud loss, and ARPC.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Monthly fee revenue trend helps identify business growth.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Channel flag analysis identifies risky transaction channels.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5. Revenue Analytics Dashboard</a:t>
            </a:r>
          </a:p>
        </p:txBody>
      </p:sp>
      <p:pic>
        <p:nvPicPr>
          <p:cNvPr id="3" name="Picture 2" descr="Revenue DB 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1" y="2148247"/>
            <a:ext cx="7735825" cy="43443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18" y="923544"/>
            <a:ext cx="71323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Analyzed fee revenue trend from 2021 to 2024.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Retail segment generated the highest revenue.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Calculated YoY growth and ARPC metrics.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Identified top-performing customer segments and cities.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6. Churn &amp; Retention Dashboard</a:t>
            </a:r>
          </a:p>
        </p:txBody>
      </p:sp>
      <p:pic>
        <p:nvPicPr>
          <p:cNvPr id="3" name="Picture 2" descr="Churn&amp;Retention DB 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4494"/>
            <a:ext cx="7845552" cy="43635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797122"/>
            <a:ext cx="7488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Tracked churned, active, and at-risk customers.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Tenure analysis showed highest churn among long-term customers.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Dormant balance and RM performance were analyzed.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Segment-wise churn distribution supported retention strategies.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7. Operational Efficiency Dashboard</a:t>
            </a:r>
          </a:p>
        </p:txBody>
      </p:sp>
      <p:pic>
        <p:nvPicPr>
          <p:cNvPr id="3" name="Picture 2" descr="Operational Efficiency DB 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076808"/>
            <a:ext cx="7918704" cy="4408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758952"/>
            <a:ext cx="7397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Measured Gross NPA Ratio and overdue loan metrics.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Analyzed EMI-to-Income stress distribution.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Fraud resolution turnaround time monitored by severity.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Identified high-risk loan officers and overdue portfolios.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8. Risk &amp; Fraud Dashboard</a:t>
            </a:r>
          </a:p>
        </p:txBody>
      </p:sp>
      <p:pic>
        <p:nvPicPr>
          <p:cNvPr id="3" name="Picture 2" descr="Risk&amp;Fraud DB 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9865"/>
            <a:ext cx="7953217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749808"/>
            <a:ext cx="66202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Monitored fraud loss and recovery trends.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Compared fraud concentration across customer segments.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Tracked alert severity distribution and fraud activity patterns.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dirty="0"/>
              <a:t>Evaluated investigation officer efficiency and recovery rates.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9.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375904" cy="413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  <a:defRPr sz="1800"/>
            </a:pPr>
            <a:r>
              <a:rPr dirty="0"/>
              <a:t>Gross NPA Ratio reached 31.71%, indicating significant credit risk.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  <a:defRPr sz="1800"/>
            </a:pPr>
            <a:r>
              <a:rPr dirty="0"/>
              <a:t>Retail customers contributed the highest fee revenue.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  <a:defRPr sz="1800"/>
            </a:pPr>
            <a:r>
              <a:rPr dirty="0"/>
              <a:t>UPI and POS channels showed the highest fraud activity.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  <a:defRPr sz="1800"/>
            </a:pPr>
            <a:r>
              <a:rPr dirty="0"/>
              <a:t>Churned customers exceeded active customers, indicating retention issues.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  <a:defRPr sz="1800"/>
            </a:pPr>
            <a:r>
              <a:rPr dirty="0"/>
              <a:t>Critical fraud cases required longer resolution time.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  <a:defRPr sz="1800"/>
            </a:pPr>
            <a:r>
              <a:rPr dirty="0"/>
              <a:t>Certain loan officers managed highly overdue portfolios.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81C9D-440B-2E31-AF39-41AE60A0275A}"/>
              </a:ext>
            </a:extLst>
          </p:cNvPr>
          <p:cNvSpPr txBox="1"/>
          <p:nvPr/>
        </p:nvSpPr>
        <p:spPr>
          <a:xfrm>
            <a:off x="338328" y="560365"/>
            <a:ext cx="846734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Critical Alerts</a:t>
            </a:r>
          </a:p>
          <a:p>
            <a:r>
              <a:rPr lang="en-US" dirty="0"/>
              <a:t>Flags requiring executive attention</a:t>
            </a:r>
          </a:p>
          <a:p>
            <a:endParaRPr lang="en-US" dirty="0"/>
          </a:p>
          <a:p>
            <a:r>
              <a:rPr lang="en-US" b="1" dirty="0"/>
              <a:t>	NPA Ratio at 31.7% - Regulatory Breach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Exceeds 5% RBI threshold by 6.3×. Business Loan (35.7%) and Car Loan (33.0%) are highest risk. Immediate portfolio review required.</a:t>
            </a:r>
          </a:p>
          <a:p>
            <a:endParaRPr lang="en-US" dirty="0"/>
          </a:p>
          <a:p>
            <a:r>
              <a:rPr lang="en-US" b="1" dirty="0"/>
              <a:t>	Churn Rate 36.9% - Retention Crisis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1,846 customers churned. 740 At-Risk. Newer customers (&lt;1yr) churn at 42.9% vs 36-37% for mature segments.</a:t>
            </a:r>
          </a:p>
          <a:p>
            <a:endParaRPr lang="en-US" dirty="0"/>
          </a:p>
          <a:p>
            <a:r>
              <a:rPr lang="en-US" b="1" dirty="0"/>
              <a:t>	Fraud Recovery Rate 27.9%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₹195.2M in fraud losses since 2021. Only ₹51.4M recovered. Recovery declining - 29.4% in 2021 vs 28.1% in 2024.</a:t>
            </a:r>
          </a:p>
          <a:p>
            <a:endParaRPr lang="en-US" dirty="0"/>
          </a:p>
          <a:p>
            <a:r>
              <a:rPr lang="en-US" b="1" dirty="0"/>
              <a:t>	</a:t>
            </a:r>
            <a:r>
              <a:rPr lang="en-US" sz="2000" b="1" dirty="0"/>
              <a:t>Avg Overdue 355 Days - 527 Stressed Borrowers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13.2% of loan customers have EMI/Income ratio &gt;50%. UPI App &amp; Mobile App have highest transaction flag rates (&gt;11%).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E0FF3-0C46-D10A-582B-0BBC3A4D9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9" y="3429000"/>
            <a:ext cx="450646" cy="450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4B03ED-1D4A-D7B8-F2BC-97E439F69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91" y="1226175"/>
            <a:ext cx="448864" cy="448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BE34BB-FCC6-A185-7330-1B8F1EE6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09" y="2293999"/>
            <a:ext cx="450646" cy="450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129350-F56B-484C-E405-3D296B460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4668703"/>
            <a:ext cx="450527" cy="45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50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C3E8C"/>
                </a:solidFill>
              </a:rPr>
              <a:t>10. Challenges &amp;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991856" cy="410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Handled mixed date formats and inconsistent data values.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Learned advanced Power Query transformation techniques.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Improved DAX calculation and KPI-building skills.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Enhanced dashboard storytelling and UI design abilities.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  <a:defRPr sz="1800"/>
            </a:pPr>
            <a:r>
              <a:rPr dirty="0"/>
              <a:t>Gained experience in financial and banking analytics.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8C"/>
                </a:solidFill>
              </a:rP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595360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Successfully developed a complete Banking Analytics solution in Power BI.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Dashboard enables data-driven decision-making for banking operations.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Project demonstrates skills in Data Cleaning, Modeling, Visualization, and Business Analysis.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 sz="1800"/>
            </a:pPr>
            <a:r>
              <a:rPr dirty="0"/>
              <a:t>Future enhancement: Integrate machine learning-based churn and fraud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389120"/>
            <a:ext cx="22037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C3E8C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744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MUHAMMED FAZAL</dc:creator>
  <cp:keywords/>
  <dc:description>generated using python-pptx</dc:description>
  <cp:lastModifiedBy>MUHAMMED FAZAL</cp:lastModifiedBy>
  <cp:revision>3</cp:revision>
  <dcterms:created xsi:type="dcterms:W3CDTF">2013-01-27T09:14:16Z</dcterms:created>
  <dcterms:modified xsi:type="dcterms:W3CDTF">2026-05-10T08:26:46Z</dcterms:modified>
  <cp:category/>
</cp:coreProperties>
</file>